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A85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BF7"/>
                </a:solidFill>
                <a:latin typeface="Georgia"/>
              </a:rPr>
              <a:t>designtuntas.id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BF7"/>
                </a:solidFill>
                <a:latin typeface="Calibri"/>
              </a:rPr>
              <a:t>Business Model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8DE"/>
                </a:solidFill>
                <a:latin typeface="Calibri"/>
              </a:rPr>
              <a:t>Landasan bisnis yang hangat,</a:t>
            </a:r>
          </a:p>
          <a:p>
            <a:r>
              <a:rPr sz="1300" b="0">
                <a:solidFill>
                  <a:srgbClr val="FFE8DE"/>
                </a:solidFill>
                <a:latin typeface="Calibri"/>
              </a:rPr>
              <a:t>sederhana, dan siap tumbuh.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2C29"/>
                </a:solidFill>
                <a:latin typeface="Georgia"/>
              </a:rPr>
              <a:t>Desain &amp; dokumen,</a:t>
            </a:r>
          </a:p>
          <a:p>
            <a:r>
              <a:rPr sz="3600" b="1">
                <a:solidFill>
                  <a:srgbClr val="3D2C29"/>
                </a:solidFill>
                <a:latin typeface="Georgia"/>
              </a:rPr>
              <a:t>sampai tuntas.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4747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A655C"/>
                </a:solidFill>
                <a:latin typeface="Calibri"/>
              </a:rPr>
              <a:t>Resume CV  ·  Konsultasi Skripsi  ·  Design Visual  ·  Design 3D</a:t>
            </a:r>
          </a:p>
          <a:p>
            <a:r>
              <a:rPr sz="1400" b="0">
                <a:solidFill>
                  <a:srgbClr val="7A655C"/>
                </a:solidFill>
                <a:latin typeface="Calibri"/>
              </a:rPr>
              <a:t/>
            </a:r>
          </a:p>
          <a:p>
            <a:r>
              <a:rPr sz="1400" b="0">
                <a:solidFill>
                  <a:srgbClr val="7A655C"/>
                </a:solidFill>
                <a:latin typeface="Calibri"/>
              </a:rPr>
              <a:t>Kebijakan biaya: versi gratis dulu.</a:t>
            </a:r>
          </a:p>
          <a:p>
            <a:r>
              <a:rPr sz="1400" b="0">
                <a:solidFill>
                  <a:srgbClr val="7A655C"/>
                </a:solidFill>
                <a:latin typeface="Calibri"/>
              </a:rPr>
              <a:t>Beralih berbayar setelah ada transaksi nyata.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59436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956C"/>
                </a:solidFill>
                <a:latin typeface="Calibri"/>
              </a:rPr>
              <a:t>Pondasi bisnis  ·  Fase 1: landing + Tuti AI  ·  WhatsApp: 088901178816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D2C29"/>
                </a:solidFill>
                <a:latin typeface="Georgia"/>
              </a:rPr>
              <a:t>Business Model Canvas — designtuntas.id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655C"/>
                </a:solidFill>
                <a:latin typeface="Calibri"/>
              </a:rPr>
              <a:t>Satu pintu untuk CV, skripsi, visual, dan 3D — sampai tuntas.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2176272" cy="4261102"/>
          </a:xfrm>
          <a:prstGeom prst="roundRect">
            <a:avLst>
              <a:gd name="adj" fmla="val 8000"/>
            </a:avLst>
          </a:prstGeom>
          <a:solidFill>
            <a:srgbClr val="ED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73152" cy="4261102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Key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298448"/>
            <a:ext cx="1920240" cy="3785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OpenRouter (Tuti AI)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Vercel Hobby (hosting)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Nanti: Midtrans / Xendit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Nanti: Supabase / storage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Freelancer (opsional)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Kampus / komunitas (referral)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914400"/>
            <a:ext cx="2176272" cy="2084831"/>
          </a:xfrm>
          <a:prstGeom prst="roundRect">
            <a:avLst>
              <a:gd name="adj" fmla="val 8000"/>
            </a:avLst>
          </a:prstGeom>
          <a:solidFill>
            <a:srgbClr val="F3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42032" y="914400"/>
            <a:ext cx="73152" cy="2084831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02412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Key Activities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1298448"/>
            <a:ext cx="1920240" cy="160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Produksi CV, skripsi, visual, 3D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Brief &amp; manajemen revisi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Konten IG / TikTok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Jaga website + Tuti AI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Support WhatsApp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3090671"/>
            <a:ext cx="2176272" cy="2084831"/>
          </a:xfrm>
          <a:prstGeom prst="roundRect">
            <a:avLst>
              <a:gd name="adj" fmla="val 8000"/>
            </a:avLst>
          </a:prstGeom>
          <a:solidFill>
            <a:srgbClr val="E8D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3090671"/>
            <a:ext cx="73152" cy="2084831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6624" y="3200399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Key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3474719"/>
            <a:ext cx="1920240" cy="160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Brand designtuntas.id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Skill inti 4 layanan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Web + Tuti + WhatsApp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Portofolio &amp; template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Waktu founder / tim kecil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9744" y="914400"/>
            <a:ext cx="2514600" cy="4261102"/>
          </a:xfrm>
          <a:prstGeom prst="roundRect">
            <a:avLst>
              <a:gd name="adj" fmla="val 8000"/>
            </a:avLst>
          </a:prstGeom>
          <a:solidFill>
            <a:srgbClr val="F8E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9744" y="914400"/>
            <a:ext cx="73152" cy="4261102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1024128"/>
            <a:ext cx="2258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8563A"/>
                </a:solidFill>
                <a:latin typeface="Calibri"/>
              </a:rPr>
              <a:t>Value Propositions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1298448"/>
            <a:ext cx="2258568" cy="3785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Satu pintu: CV · skripsi · visual · 3D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Sampai tuntas (revisi terarah)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Proses: chat → brief → revisi → selesai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WhatsApp + Tuti AI (FAQ cepat)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Bahasa &amp; konteks lokal Indonesia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Harga transparan bertahap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5784" y="914400"/>
            <a:ext cx="2176272" cy="2084831"/>
          </a:xfrm>
          <a:prstGeom prst="roundRect">
            <a:avLst>
              <a:gd name="adj" fmla="val 8000"/>
            </a:avLst>
          </a:prstGeom>
          <a:solidFill>
            <a:srgbClr val="F3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15784" y="914400"/>
            <a:ext cx="73152" cy="2084831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102412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Customer Relationships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1298448"/>
            <a:ext cx="1920240" cy="160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Tuti AI: info mandiri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WhatsApp: bantuan personal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Update status &amp; revisi jelas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Nanti: tracking &amp; akun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Upsell lintas layanan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5784" y="3090671"/>
            <a:ext cx="2176272" cy="2084831"/>
          </a:xfrm>
          <a:prstGeom prst="roundRect">
            <a:avLst>
              <a:gd name="adj" fmla="val 8000"/>
            </a:avLst>
          </a:prstGeom>
          <a:solidFill>
            <a:srgbClr val="E8D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15784" y="3090671"/>
            <a:ext cx="73152" cy="2084831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0376" y="3200399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Channels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3474719"/>
            <a:ext cx="1920240" cy="160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Website / Vercel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WhatsApp (konversi utama)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Instagram &amp; TikTok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Tuti AI di website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Nanti: form order &amp; payment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83496" y="914400"/>
            <a:ext cx="2176272" cy="4261102"/>
          </a:xfrm>
          <a:prstGeom prst="roundRect">
            <a:avLst>
              <a:gd name="adj" fmla="val 8000"/>
            </a:avLst>
          </a:prstGeom>
          <a:solidFill>
            <a:srgbClr val="ED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83496" y="914400"/>
            <a:ext cx="73152" cy="4261102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8088" y="102412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Customer Segments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1298448"/>
            <a:ext cx="1920240" cy="3785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Mahasiswa (skripsi / dokumen)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Fresh graduate &amp; pencari kerja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UMKM / personal brand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Klien design 3D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2C29"/>
                </a:solidFill>
                <a:latin typeface="Calibri"/>
              </a:rPr>
              <a:t>• Prioritas awal: CV + skripsi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266942"/>
            <a:ext cx="7050024" cy="1371600"/>
          </a:xfrm>
          <a:prstGeom prst="roundRect">
            <a:avLst>
              <a:gd name="adj" fmla="val 8000"/>
            </a:avLst>
          </a:prstGeom>
          <a:solidFill>
            <a:srgbClr val="EA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266942"/>
            <a:ext cx="73152" cy="1371600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376670"/>
            <a:ext cx="67939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Cost 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650990"/>
            <a:ext cx="67939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Gratis dulu: Vercel Hobby, OpenRouter :free, tools memadai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Bayar setelah transaksi: fee gateway, domain .id, upgrade bila perlu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15784" y="5266942"/>
            <a:ext cx="4443984" cy="1371600"/>
          </a:xfrm>
          <a:prstGeom prst="roundRect">
            <a:avLst>
              <a:gd name="adj" fmla="val 8000"/>
            </a:avLst>
          </a:prstGeom>
          <a:solidFill>
            <a:srgbClr val="F0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15784" y="5266942"/>
            <a:ext cx="73152" cy="1371600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0376" y="5376670"/>
            <a:ext cx="4187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Revenue Streams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0376" y="5650990"/>
            <a:ext cx="4187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Paket CV · Skripsi (bab/paket) · Design visual · Design 3D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D2C29"/>
                </a:solidFill>
                <a:latin typeface="Calibri"/>
              </a:rPr>
              <a:t>• Opsional nanti: revisi ekstra / retainer — belum andalkan iklan/SaaS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3D2C29"/>
                </a:solidFill>
                <a:latin typeface="Georgia"/>
              </a:rPr>
              <a:t>Hubungan pelanggan &amp; kebijakan biaya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F3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Customer Relationships (jelas)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513892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Tuti AI: jawab pertanyaan umum 24/7 (self-serve)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WhatsApp: brief, revisi, order (bantuan personal)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Alur: tanya Tuti → lanjut WA saat siap order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Tidak ada refund — disepakati sejak awal dengan klien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Revisi selama proses hingga valid; setelah valid berbayar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ED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73152" cy="2926080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207008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6B4A"/>
                </a:solidFill>
                <a:latin typeface="Calibri"/>
              </a:rPr>
              <a:t>Cost — tetap gratis dulu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481328"/>
            <a:ext cx="513892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Fase 1–3: pakai free tier selama memungkinkan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Vercel Hobby + OpenRouter model free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Payment sandbox sampai ada transaksi nyata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Fee gateway mulai transaksi production pertama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2C29"/>
                </a:solidFill>
                <a:latin typeface="Calibri"/>
              </a:rPr>
              <a:t>• Upgrade DB/AI hanya jika volume sudah besar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F8E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2C29"/>
                </a:solidFill>
                <a:latin typeface="Calibri"/>
              </a:rPr>
              <a:t>Keputusan terkunci</a:t>
            </a:r>
          </a:p>
          <a:p>
            <a:r>
              <a:rPr sz="1400" b="0">
                <a:solidFill>
                  <a:srgbClr val="3D2C29"/>
                </a:solidFill>
                <a:latin typeface="Calibri"/>
              </a:rPr>
              <a:t>Pertahankan versi gratis. Beralih berbayar hanya setelah ada transaksi nyata.</a:t>
            </a:r>
          </a:p>
          <a:p>
            <a:r>
              <a:rPr sz="1400" b="0">
                <a:solidFill>
                  <a:srgbClr val="3D2C29"/>
                </a:solidFill>
                <a:latin typeface="Calibri"/>
              </a:rPr>
              <a:t>Asisten AI: Tuti  ·  WA: 088901178816  ·  Tagline: Siap menyelesaikan masalah Anda sampai tuntas.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3D2C29"/>
                </a:solidFill>
                <a:latin typeface="Georgia"/>
              </a:rPr>
              <a:t>Roadmap pertumbuhan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A655C"/>
                </a:solidFill>
                <a:latin typeface="Calibri"/>
              </a:rPr>
              <a:t>Dari landing hangat ke platform penuh — tanpa terburu bayar.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3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66160" cy="640080"/>
          </a:xfrm>
          <a:prstGeom prst="rect">
            <a:avLst/>
          </a:prstGeom>
          <a:solidFill>
            <a:srgbClr val="C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BF7"/>
                </a:solidFill>
                <a:latin typeface="Georgia"/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2C29"/>
                </a:solidFill>
                <a:latin typeface="Calibri"/>
              </a:rPr>
              <a:t>Landing + Tuti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A655C"/>
                </a:solidFill>
                <a:latin typeface="Calibri"/>
              </a:rPr>
              <a:t>Website, WhatsApp, OpenRouter free</a:t>
            </a:r>
          </a:p>
          <a:p>
            <a:r>
              <a:rPr sz="1300" b="0">
                <a:solidFill>
                  <a:srgbClr val="7A655C"/>
                </a:solidFill>
                <a:latin typeface="Calibri"/>
              </a:rPr>
              <a:t>Vercel Hobby — GRATIS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3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54480"/>
            <a:ext cx="3566160" cy="640080"/>
          </a:xfrm>
          <a:prstGeom prst="rect">
            <a:avLst/>
          </a:prstGeom>
          <a:solidFill>
            <a:srgbClr val="A85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BF7"/>
                </a:solidFill>
                <a:latin typeface="Georgia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2C29"/>
                </a:solidFill>
                <a:latin typeface="Calibri"/>
              </a:rPr>
              <a:t>Sistem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08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A655C"/>
                </a:solidFill>
                <a:latin typeface="Calibri"/>
              </a:rPr>
              <a:t>Form order, notifikasi, tracking</a:t>
            </a:r>
          </a:p>
          <a:p>
            <a:r>
              <a:rPr sz="1300" b="0">
                <a:solidFill>
                  <a:srgbClr val="7A655C"/>
                </a:solidFill>
                <a:latin typeface="Calibri"/>
              </a:rPr>
              <a:t>Free tier dulu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3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solidFill>
            <a:srgbClr val="B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BF7"/>
                </a:solidFill>
                <a:latin typeface="Georgia"/>
              </a:rPr>
              <a:t>Fase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D2C29"/>
                </a:solidFill>
                <a:latin typeface="Calibri"/>
              </a:rPr>
              <a:t>Platform penuh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108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A655C"/>
                </a:solidFill>
                <a:latin typeface="Calibri"/>
              </a:rPr>
              <a:t>Akun, dashboard, payment</a:t>
            </a:r>
          </a:p>
          <a:p>
            <a:r>
              <a:rPr sz="1300" b="0">
                <a:solidFill>
                  <a:srgbClr val="7A655C"/>
                </a:solidFill>
                <a:latin typeface="Calibri"/>
              </a:rPr>
              <a:t>Sandbox dulu; bayar saat transaksi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956C"/>
                </a:solidFill>
                <a:latin typeface="Calibri"/>
              </a:rPr>
              <a:t>designtuntas.id  ·  Business Model Canvas  ·  desain hangat untuk pondasi bisnis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